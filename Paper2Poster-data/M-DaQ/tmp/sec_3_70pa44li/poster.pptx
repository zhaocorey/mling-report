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95667" cy="877011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_Quality_Scoring_Model__t1"/>
          <p:cNvSpPr txBox="1"/>
          <p:nvPr/>
        </p:nvSpPr>
        <p:spPr>
          <a:xfrm>
            <a:off x="914400" y="914400"/>
            <a:ext cx="21652467" cy="6026910"/>
          </a:xfrm>
          <a:prstGeom prst="rect">
            <a:avLst/>
          </a:prstGeom>
          <a:noFill/>
          <a:ln w="63500">
            <a:solidFill>
              <a:srgbClr val="FF0000"/>
            </a:solidFill>
            <a:prstDash val="solid"/>
          </a:ln>
        </p:spPr>
        <p:txBody>
          <a:bodyPr wrap="square">
            <a:noAutofit/>
          </a:bodyPr>
          <a:lstStyle/>
          <a:p/>
          <a:p>
            <a:pPr algn="l">
              <a:defRPr sz="4800"/>
            </a:pPr>
            <a:r>
              <a:rPr b="0" i="0"/>
              <a:t>•Fine-tuned model designed to estimate the quality of multilingual samples across 18 languages.</a:t>
            </a:r>
          </a:p>
          <a:p>
            <a:pPr algn="l">
              <a:defRPr sz="4800"/>
            </a:pPr>
            <a:r>
              <a:rPr b="0" i="0"/>
              <a:t>•Trained on a pairwise dataset of ~2.3K expert-revised (positive) and original (negative) samples per language.</a:t>
            </a:r>
          </a:p>
          <a:p>
            <a:pPr algn="l">
              <a:defRPr sz="4800"/>
            </a:pPr>
            <a:r>
              <a:rPr b="0" i="0"/>
              <a:t>•Negative responses typically suffer from content errors, machine translation artifacts, and insufficient cultural localization.</a:t>
            </a:r>
          </a:p>
          <a:p>
            <a:pPr algn="l">
              <a:defRPr sz="4800"/>
            </a:pPr>
            <a:r>
              <a:rPr b="0" i="0"/>
              <a:t>•Positive responses demonstrate deeper reasoning, higher complexity, and greater comprehensiveness.</a:t>
            </a:r>
          </a:p>
          <a:p>
            <a:pPr algn="l">
              <a:defRPr sz="4800"/>
            </a:pPr>
            <a:r>
              <a:rPr b="0" i="0"/>
              <a:t>•Optimized using a triplet loss function in the embedding space to learn relative quality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