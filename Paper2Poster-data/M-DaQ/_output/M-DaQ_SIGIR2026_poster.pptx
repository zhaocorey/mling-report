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266640" cy="427939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266640" cy="2560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28803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Arial"/>
              </a:rPr>
              <a:t>M-DaQ: Retrieving Samples with Multilingual Diversity and Quality
for Instruction Fine-Tuning Datasets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2880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Arial"/>
              </a:rPr>
              <a:t>Chunguang Zhao¹ · Yilun Liu¹ · Pufan Zeng² · Yuanchang Luo¹ · Shimin Tao¹ · Minggui He¹ · Weibin Meng¹ · Song Xu² · Chen Liu¹ · Hongxia Ma¹ · Li Zhang¹ · Boxing Chen¹ · Daimeng Wei¹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2880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BBCCDD"/>
                </a:solidFill>
                <a:latin typeface="Arial"/>
              </a:rPr>
              <a:t>¹ Huawei Technologies Ltd.    ² University of Science and Technology of China  |  SIGIR 2026  |  github.com/zhaocorey/M-DaQ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79"/>
            <a:ext cx="929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3A5C"/>
                </a:solidFill>
                <a:latin typeface="Arial"/>
              </a:rPr>
              <a:t>1  MOTIVATION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383279"/>
            <a:ext cx="9296400" cy="36576"/>
          </a:xfrm>
          <a:prstGeom prst="rect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566159"/>
            <a:ext cx="929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222222"/>
                </a:solidFill>
                <a:latin typeface="Arial"/>
              </a:rPr>
              <a:t>• Multilingual IFT data is scarce, skewed toward English, and lacks systematic curation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22222"/>
                </a:solidFill>
                <a:latin typeface="Arial"/>
              </a:rPr>
              <a:t>• Llama-3 IFT dataset: only 3.01% multilingual samples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22222"/>
                </a:solidFill>
                <a:latin typeface="Arial"/>
              </a:rPr>
              <a:t>• No language-agnostic quality scoring method for multilingual data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22222"/>
                </a:solidFill>
                <a:latin typeface="Arial"/>
              </a:rPr>
              <a:t>• Data diversity studied only in English settings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22222"/>
                </a:solidFill>
                <a:latin typeface="Arial"/>
              </a:rPr>
              <a:t>• Superficial Alignment Hypothesis (SAH) unverified in multilingual contexts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92240"/>
            <a:ext cx="929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B3A5C"/>
                </a:solidFill>
                <a:latin typeface="Arial"/>
              </a:rPr>
              <a:t>Three Challenges Addressed: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9494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8792B"/>
                </a:solidFill>
                <a:latin typeface="Arial"/>
              </a:rPr>
              <a:t>C1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6949440"/>
            <a:ext cx="874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Arial"/>
              </a:rPr>
              <a:t>No extensible quality scoring  → QSM with triplet loss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7360919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8792B"/>
                </a:solidFill>
                <a:latin typeface="Arial"/>
              </a:rPr>
              <a:t>C2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7360919"/>
            <a:ext cx="874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Arial"/>
              </a:rPr>
              <a:t>Diversity selection English-only  → DAS inspired by MMR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7772399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8792B"/>
                </a:solidFill>
                <a:latin typeface="Arial"/>
              </a:rPr>
              <a:t>C3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7772399"/>
            <a:ext cx="874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Arial"/>
              </a:rPr>
              <a:t>SAH unverified multilingually  → 1K→52K scale study, 8 langs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8458199"/>
            <a:ext cx="929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3A5C"/>
                </a:solidFill>
                <a:latin typeface="Arial"/>
              </a:rPr>
              <a:t>2  METHOD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8915399"/>
            <a:ext cx="9296400" cy="36576"/>
          </a:xfrm>
          <a:prstGeom prst="rect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9098279"/>
            <a:ext cx="929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8792B"/>
                </a:solidFill>
                <a:latin typeface="Arial"/>
              </a:rPr>
              <a:t>Stage 1: Quality Scoring Model (QSM)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9509759"/>
            <a:ext cx="9296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  <a:latin typeface="Arial"/>
              </a:rPr>
              <a:t>• Fine-tuned on ~2.3K expert-revised samples × 18 languages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  <a:latin typeface="Arial"/>
              </a:rPr>
              <a:t>• Triplet loss: instruction → positive (expert) vs negative (original/MT)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  <a:latin typeface="Arial"/>
              </a:rPr>
              <a:t>• Language-agnostic quality signal from embedding space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11155679"/>
            <a:ext cx="929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8792B"/>
                </a:solidFill>
                <a:latin typeface="Arial"/>
              </a:rPr>
              <a:t>Stage 2: Diversity-Aware Selection (DAS)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11567159"/>
            <a:ext cx="9296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  <a:latin typeface="Arial"/>
              </a:rPr>
              <a:t>• MMR-inspired: Quality ≈ Relevance, Diversity ≈ Novelty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  <a:latin typeface="Arial"/>
              </a:rPr>
              <a:t>• Two-stage pipeline: O(n²) → O(n log n)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  <a:latin typeface="Arial"/>
              </a:rPr>
              <a:t>•   Stage 1: Select top-n by QSM score (quality)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  <a:latin typeface="Arial"/>
              </a:rPr>
              <a:t>•   Stage 2: Greedily augment from uncovered clusters (diversity)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  <a:latin typeface="Arial"/>
              </a:rPr>
              <a:t>• Ratio n_quality : n_diversity = 6:1 (empirically tuned)</a:t>
            </a:r>
          </a:p>
        </p:txBody>
      </p:sp>
      <p:pic>
        <p:nvPicPr>
          <p:cNvPr id="22" name="Picture 21" descr="fig_p1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670279"/>
            <a:ext cx="9296400" cy="722020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31520" y="16596359"/>
            <a:ext cx="929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66666"/>
                </a:solidFill>
                <a:latin typeface="Arial"/>
              </a:rPr>
              <a:t>Figure: M-DaQ two-stage pipeline (QSM + DAS)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85120" y="2926079"/>
            <a:ext cx="929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3A5C"/>
                </a:solidFill>
                <a:latin typeface="Arial"/>
              </a:rPr>
              <a:t>3  KEY RESULTS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485120" y="3383279"/>
            <a:ext cx="9296400" cy="36576"/>
          </a:xfrm>
          <a:prstGeom prst="rect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485120" y="3566159"/>
            <a:ext cx="9296400" cy="9144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68000" y="3611879"/>
            <a:ext cx="893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3A5C"/>
                </a:solidFill>
                <a:latin typeface="Arial"/>
              </a:rPr>
              <a:t>LLM-as-Judge: Avg Win Rate (M-DaQ vs Vanilla)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68000" y="3977639"/>
            <a:ext cx="893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8792B"/>
                </a:solidFill>
                <a:latin typeface="Arial"/>
              </a:rPr>
              <a:t>Alpaca-Eval: 60.2%  |  MT-Bench R1: 62.6%  |  MT-Bench R2: 62.9%</a:t>
            </a:r>
          </a:p>
        </p:txBody>
      </p:sp>
      <p:pic>
        <p:nvPicPr>
          <p:cNvPr id="29" name="Picture 28" descr="fig_p1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5120" y="4663440"/>
            <a:ext cx="9296400" cy="4724706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0485120" y="9281160"/>
            <a:ext cx="929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66666"/>
                </a:solidFill>
                <a:latin typeface="Arial"/>
              </a:rPr>
              <a:t>Figure: Cross-lingual win rates across 18 languages (Alpaca-Eval + MT-Bench)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85120" y="9784080"/>
            <a:ext cx="929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B3A5C"/>
                </a:solidFill>
                <a:latin typeface="Arial"/>
              </a:rPr>
              <a:t>Key Observations: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85120" y="10149840"/>
            <a:ext cx="929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  <a:latin typeface="Arial"/>
              </a:rPr>
              <a:t>• Consistent improvement across all 18 languages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  <a:latin typeface="Arial"/>
              </a:rPr>
              <a:t>• Gains MORE pronounced in low-resource languages (Tagalog, Malay)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  <a:latin typeface="Arial"/>
              </a:rPr>
              <a:t>• M-DaQ effectively mitigates linguistic imbalance and data scarcity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85120" y="11978640"/>
            <a:ext cx="929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3A5C"/>
                </a:solidFill>
                <a:latin typeface="Arial"/>
              </a:rPr>
              <a:t>Human Evaluation (6 Langs, 900 Samples, 58 Person-Hours):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85120" y="12435840"/>
            <a:ext cx="929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latin typeface="Courier New"/>
                <a:solidFill>
                  <a:srgbClr val="1B3A5C"/>
                </a:solidFill>
              </a:rPr>
              <a:t>Language      Alpaca-Eval   MT-Bench R1   MT-Bench R2</a:t>
            </a:r>
          </a:p>
          <a:p>
            <a:pPr>
              <a:spcAft>
                <a:spcPts val="200"/>
              </a:spcAft>
            </a:pPr>
            <a:r>
              <a:rPr sz="1600" b="0">
                <a:latin typeface="Courier New"/>
                <a:solidFill>
                  <a:srgbClr val="222222"/>
                </a:solidFill>
              </a:rPr>
              <a:t>Japanese      86%           84%           80%</a:t>
            </a:r>
          </a:p>
          <a:p>
            <a:pPr>
              <a:spcAft>
                <a:spcPts val="200"/>
              </a:spcAft>
            </a:pPr>
            <a:r>
              <a:rPr sz="1600" b="0">
                <a:latin typeface="Courier New"/>
                <a:solidFill>
                  <a:srgbClr val="222222"/>
                </a:solidFill>
              </a:rPr>
              <a:t>Korean        94%           94%           94%</a:t>
            </a:r>
          </a:p>
          <a:p>
            <a:pPr>
              <a:spcAft>
                <a:spcPts val="200"/>
              </a:spcAft>
            </a:pPr>
            <a:r>
              <a:rPr sz="1600" b="0">
                <a:latin typeface="Courier New"/>
                <a:solidFill>
                  <a:srgbClr val="222222"/>
                </a:solidFill>
              </a:rPr>
              <a:t>Russian       70%           86%           84%</a:t>
            </a:r>
          </a:p>
          <a:p>
            <a:pPr>
              <a:spcAft>
                <a:spcPts val="200"/>
              </a:spcAft>
            </a:pPr>
            <a:r>
              <a:rPr sz="1600" b="0">
                <a:latin typeface="Courier New"/>
                <a:solidFill>
                  <a:srgbClr val="222222"/>
                </a:solidFill>
              </a:rPr>
              <a:t>Portuguese    80%           78%           84%</a:t>
            </a:r>
          </a:p>
          <a:p>
            <a:pPr>
              <a:spcAft>
                <a:spcPts val="200"/>
              </a:spcAft>
            </a:pPr>
            <a:r>
              <a:rPr sz="1600" b="0">
                <a:latin typeface="Courier New"/>
                <a:solidFill>
                  <a:srgbClr val="222222"/>
                </a:solidFill>
              </a:rPr>
              <a:t>Greek         58%           76%           82%</a:t>
            </a:r>
          </a:p>
          <a:p>
            <a:pPr>
              <a:spcAft>
                <a:spcPts val="200"/>
              </a:spcAft>
            </a:pPr>
            <a:r>
              <a:rPr sz="1600" b="0">
                <a:latin typeface="Courier New"/>
                <a:solidFill>
                  <a:srgbClr val="222222"/>
                </a:solidFill>
              </a:rPr>
              <a:t>French        80%           92%           88%</a:t>
            </a:r>
          </a:p>
          <a:p>
            <a:pPr>
              <a:spcAft>
                <a:spcPts val="200"/>
              </a:spcAft>
            </a:pPr>
            <a:r>
              <a:rPr sz="1600" b="1">
                <a:latin typeface="Courier New"/>
                <a:solidFill>
                  <a:srgbClr val="1B3A5C"/>
                </a:solidFill>
              </a:rPr>
              <a:t>Average       78.0%         85.0%         85.3%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238720" y="2926079"/>
            <a:ext cx="929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3A5C"/>
                </a:solidFill>
                <a:latin typeface="Arial"/>
              </a:rPr>
              <a:t>4  SAH IN MULTILINGUAL SETTINGS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0238720" y="3383279"/>
            <a:ext cx="9296400" cy="36576"/>
          </a:xfrm>
          <a:prstGeom prst="rect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0238720" y="3566159"/>
            <a:ext cx="929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Arial"/>
              </a:rPr>
              <a:t>First systematic investigation of the Superficial Alignment Hypothesis across languages.</a:t>
            </a:r>
          </a:p>
        </p:txBody>
      </p:sp>
      <p:pic>
        <p:nvPicPr>
          <p:cNvPr id="38" name="Picture 37" descr="fig_p4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238720" y="4114799"/>
            <a:ext cx="9296400" cy="650748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20238720" y="7818120"/>
            <a:ext cx="929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66666"/>
                </a:solidFill>
                <a:latin typeface="Arial"/>
              </a:rPr>
              <a:t>Figure: Win rate vs IFT dataset scale (1K–52K), 8 languages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0238720" y="8321039"/>
            <a:ext cx="929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B3A5C"/>
                </a:solidFill>
                <a:latin typeface="Arial"/>
              </a:rPr>
              <a:t>Key Findings: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0238720" y="8686799"/>
            <a:ext cx="929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  <a:latin typeface="Arial"/>
              </a:rPr>
              <a:t>• ✅ Diminishing returns: 1K curated &gt; 52K unfiltered — SAH holds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  <a:latin typeface="Arial"/>
              </a:rPr>
              <a:t>•   10K: −10.1% avg win rate vs 1K baseline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  <a:latin typeface="Arial"/>
              </a:rPr>
              <a:t>•   52K: −6.2% avg win rate vs 1K baseline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  <a:latin typeface="Arial"/>
              </a:rPr>
              <a:t>• ⚠️ Language-dependent sensitivity: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  <a:latin typeface="Arial"/>
              </a:rPr>
              <a:t>•   Arabic shows flatter curve than French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  <a:latin typeface="Arial"/>
              </a:rPr>
              <a:t>•   (lower cross-lingual pretraining readiness)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  <a:latin typeface="Arial"/>
              </a:rPr>
              <a:t>• 💡 A few thousand high-quality samples suffice for effective multilingual alignment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238720" y="11247119"/>
            <a:ext cx="929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3A5C"/>
                </a:solidFill>
                <a:latin typeface="Arial"/>
              </a:rPr>
              <a:t>5  CULTURAL LOCALIZATION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0238720" y="11704319"/>
            <a:ext cx="9296400" cy="36576"/>
          </a:xfrm>
          <a:prstGeom prst="rect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fig_p4_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238720" y="11887199"/>
            <a:ext cx="9296400" cy="464820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20238720" y="14676119"/>
            <a:ext cx="929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66666"/>
                </a:solidFill>
                <a:latin typeface="Arial"/>
              </a:rPr>
              <a:t>Example: French travel query about Corsica → M-DaQ references Piana, figatelli, local conventions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238720" y="15270479"/>
            <a:ext cx="929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3A5C"/>
                </a:solidFill>
                <a:latin typeface="Arial"/>
              </a:rPr>
              <a:t>6  CONCLUSION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0238720" y="15727679"/>
            <a:ext cx="9296400" cy="36576"/>
          </a:xfrm>
          <a:prstGeom prst="rect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0238720" y="15910559"/>
            <a:ext cx="929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  <a:latin typeface="Arial"/>
              </a:rPr>
              <a:t>• M-DaQ = QSM (quality) + DAS (diversity): compact, high-fidelity multilingual IFT subsets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  <a:latin typeface="Arial"/>
              </a:rPr>
              <a:t>• 60%+ avg win rate across 18 languages on Alpaca-Eval &amp; MT-Bench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  <a:latin typeface="Arial"/>
              </a:rPr>
              <a:t>• Human eval confirms gains in cultural relevance, contextual appropriateness, instruction-following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  <a:latin typeface="Arial"/>
              </a:rPr>
              <a:t>• First empirical validation of SAH in multilingual settings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  <a:latin typeface="Arial"/>
              </a:rPr>
              <a:t>• Code: github.com/zhaocorey/M-DaQ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0238720" y="18470879"/>
            <a:ext cx="9296400" cy="10972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0421600" y="18562319"/>
            <a:ext cx="893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B3A5C"/>
                </a:solidFill>
                <a:latin typeface="Arial"/>
              </a:rPr>
              <a:t>📎 Code: github.com/zhaocorey/M-DaQ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0421600" y="18882359"/>
            <a:ext cx="893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B3A5C"/>
                </a:solidFill>
                <a:latin typeface="Arial"/>
              </a:rPr>
              <a:t>📄 Paper: arXiv:2509.15549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0421600" y="19202399"/>
            <a:ext cx="893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B3A5C"/>
                </a:solidFill>
                <a:latin typeface="Arial"/>
              </a:rPr>
              <a:t>📧 Contact: liuyilun3@huawei.com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0" y="42245279"/>
            <a:ext cx="3026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66666"/>
                </a:solidFill>
                <a:latin typeface="Arial"/>
              </a:rPr>
              <a:t>SIGIR 2026 · Melbourne, VIC, Australia · July 20–24,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