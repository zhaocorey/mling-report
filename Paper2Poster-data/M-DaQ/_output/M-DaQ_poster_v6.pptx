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3026664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aw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0" y="182880"/>
            <a:ext cx="2229612" cy="502920"/>
          </a:xfrm>
          <a:prstGeom prst="rect">
            <a:avLst/>
          </a:prstGeom>
        </p:spPr>
      </p:pic>
      <p:pic>
        <p:nvPicPr>
          <p:cNvPr id="5" name="Picture 4" descr="SIGIR_2026_N_Odate_pos_73a5d01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0" y="777240"/>
            <a:ext cx="1648225" cy="822960"/>
          </a:xfrm>
          <a:prstGeom prst="rect">
            <a:avLst/>
          </a:prstGeom>
        </p:spPr>
      </p:pic>
      <p:pic>
        <p:nvPicPr>
          <p:cNvPr id="6" name="Picture 5" descr="ust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0" y="1691640"/>
            <a:ext cx="262636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2523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latin typeface="Arial"/>
                <a:solidFill>
                  <a:srgbClr val="1B3A5C"/>
                </a:solidFill>
              </a:rPr>
              <a:t>M-DaQ: Retrieving Samples with Multilingual Diversity and Quality for Instruction Fine-Tuning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2523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latin typeface="Arial"/>
                <a:solidFill>
                  <a:srgbClr val="222222"/>
                </a:solidFill>
              </a:rPr>
              <a:t>Chunguang Zhao¹, Yilun Liu¹, Pufan Zeng², Yuanchang Luo¹, Shimin Tao¹, Minggui He¹, Weibin Meng¹, Song Xu², Chen Liu¹, Hongxia Ma¹, Li Zhang¹, Boxing Chen¹, Daimeng Wei¹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2523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  <a:solidFill>
                  <a:srgbClr val="666666"/>
                </a:solidFill>
              </a:rPr>
              <a:t>¹ Huawei Technologies Ltd.  ² USTC  |  SIGIR 2026 · Melbourne · July 20–24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1 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1426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Multilingual IFT data is scarce, skewed toward English, lacks systematic curation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Llama-3 IFT dataset: only 3.01% multilingual samples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No language-agnostic quality scoring for multilingual data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Data diversity studied only in English settings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Superficial Alignment Hypothesis (SAH) unverified in multilingual contexts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99516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  <a:solidFill>
                  <a:srgbClr val="1B3A5C"/>
                </a:solidFill>
              </a:rPr>
              <a:t>Three Challenges Addressed: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736092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737006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736092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0">
                <a:latin typeface="Arial"/>
                <a:solidFill>
                  <a:srgbClr val="222222"/>
                </a:solidFill>
              </a:rPr>
              <a:t>No extensible quality scoring for multilingual IFT</a:t>
            </a:r>
          </a:p>
          <a:p>
            <a:pPr algn="l">
              <a:spcAft>
                <a:spcPts val="200"/>
              </a:spcAft>
            </a:pPr>
            <a:r>
              <a:rPr sz="2000" b="1">
                <a:latin typeface="Arial"/>
                <a:solidFill>
                  <a:srgbClr val="E8792B"/>
                </a:solidFill>
              </a:rPr>
              <a:t>→ QSM with triplet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95528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796442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95528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0">
                <a:latin typeface="Arial"/>
                <a:solidFill>
                  <a:srgbClr val="222222"/>
                </a:solidFill>
              </a:rPr>
              <a:t>Diversity selection limited to English</a:t>
            </a:r>
          </a:p>
          <a:p>
            <a:pPr algn="l">
              <a:spcAft>
                <a:spcPts val="200"/>
              </a:spcAft>
            </a:pPr>
            <a:r>
              <a:rPr sz="2000" b="1">
                <a:latin typeface="Arial"/>
                <a:solidFill>
                  <a:srgbClr val="E8792B"/>
                </a:solidFill>
              </a:rPr>
              <a:t>→ DAS inspired by MMR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854964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855878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854964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0">
                <a:latin typeface="Arial"/>
                <a:solidFill>
                  <a:srgbClr val="222222"/>
                </a:solidFill>
              </a:rPr>
              <a:t>SAH unverified in multilingual settings</a:t>
            </a:r>
          </a:p>
          <a:p>
            <a:pPr algn="l">
              <a:spcAft>
                <a:spcPts val="200"/>
              </a:spcAft>
            </a:pPr>
            <a:r>
              <a:rPr sz="2000" b="1">
                <a:latin typeface="Arial"/>
                <a:solidFill>
                  <a:srgbClr val="E8792B"/>
                </a:solidFill>
              </a:rPr>
              <a:t>→ 1K→52K study, 8 langs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0077602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2  METHOD: M-DaQ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0489082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0671962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1: Quality Scoring Model (QSM)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1037722"/>
            <a:ext cx="1426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Fine-tuned on ~2.3K expert-revised samples × 18 languages (from MIDB)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Triplet loss: instruction → positive (expert-revised) vs negative (original/MT)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Language-agnostic quality signal from embedding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3323722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2: Diversity-Aware Selection (DAS)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3689482"/>
            <a:ext cx="1426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MMR-inspired: Quality ≈ Relevance, Diversity ≈ Novelty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Two-stage pipeline reduces O(n²) → O(n log n)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A: Select top-n by QSM score (quality subset)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B: Greedily augment from uncovered clusters (diversity subset)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Ratio n_quality : n_diversity = 6:1 (empirically tuned)</a:t>
            </a:r>
          </a:p>
        </p:txBody>
      </p:sp>
      <p:pic>
        <p:nvPicPr>
          <p:cNvPr id="29" name="Picture 28" descr="fig_p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818352"/>
            <a:ext cx="14264640" cy="110788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" y="29942942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Figure: M-DaQ two-stage pipeline (QSM + 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0" y="274320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3  KEY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361920" y="3154680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61920" y="3337560"/>
            <a:ext cx="142646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0" y="3410712"/>
            <a:ext cx="1389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LLM-as-Judge: Avg Win Rate (M-DaQ vs Vanilla)</a:t>
            </a:r>
          </a:p>
          <a:p>
            <a:pPr algn="ctr">
              <a:spcAft>
                <a:spcPts val="200"/>
              </a:spcAft>
            </a:pPr>
            <a:r>
              <a:rPr sz="2400" b="1">
                <a:latin typeface="Arial"/>
                <a:solidFill>
                  <a:srgbClr val="E8792B"/>
                </a:solidFill>
              </a:rPr>
              <a:t>Alpaca-Eval: 60.2%  ·  MT-Bench R1: 62.6%  ·  MT-Bench R2: 62.9%</a:t>
            </a:r>
          </a:p>
        </p:txBody>
      </p:sp>
      <p:pic>
        <p:nvPicPr>
          <p:cNvPr id="35" name="Picture 34" descr="fig_p1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0" y="4434840"/>
            <a:ext cx="14264640" cy="724971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61920" y="11730272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Cross-lingual win rates across 18 languages (Alpaca-Eval + MT-Bench)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0" y="12050312"/>
            <a:ext cx="1426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Consistent improvement across all 18 languages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Gains MORE pronounced in low-resource languages (Tagalog, Malay)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mitigates linguistic imbalance and data scarcity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0" y="22791419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4  HUMAN EVALUATION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61920" y="23202899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361920" y="23385779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6 Languages · 900 Samples · 58 Person-Hours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5361920" y="23751539"/>
          <a:ext cx="142646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392"/>
                <a:gridCol w="3423513"/>
                <a:gridCol w="3280867"/>
                <a:gridCol w="3280867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Alpaca-Eval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MT-Bench R1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MT-Bench R2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Japanese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Korean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Russian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Portuguese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Greek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French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5361920" y="30737555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5  SAH IN MULTILINGUAL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361920" y="31149035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361920" y="31331915"/>
            <a:ext cx="1426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latin typeface="Arial"/>
                <a:solidFill>
                  <a:srgbClr val="222222"/>
                </a:solidFill>
              </a:rPr>
              <a:t>First systematic investigation of SAH across languages.</a:t>
            </a:r>
          </a:p>
        </p:txBody>
      </p:sp>
      <p:pic>
        <p:nvPicPr>
          <p:cNvPr id="45" name="Picture 44" descr="fig_p4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0" y="31789115"/>
            <a:ext cx="14264640" cy="99852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61920" y="36102797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Win rate vs IFT dataset scale (1K–52K), 8 languages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61920" y="36422838"/>
            <a:ext cx="1426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✅  Diminishing returns: 1K curated &gt; 52K unfiltered — SAH holds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   10K → −10.1% avg win rate;  52K → −6.2% vs 1K baseline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⚠️  Language-dependent: Arabic flatter than French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A few thousand high-quality samples suffice for multilingual alignment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0" y="36697158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6  CONCLUSION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361920" y="37108638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61920" y="37291518"/>
            <a:ext cx="1426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= QSM + DAS: compact, high-fidelity multilingual IFT subsets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60%+ avg win rate across 18 languages on Alpaca-Eval &amp; MT-Bench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Human eval confirms cultural relevance &amp; instruction-following gains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First empirical validation of SAH in multilingual settings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Code: github.com/zhaocorey/M-DaQ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361920" y="39273479"/>
            <a:ext cx="1426464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36240" y="39456360"/>
            <a:ext cx="1371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📎  Code &amp; Resources</a:t>
            </a:r>
          </a:p>
          <a:p>
            <a:pPr algn="l">
              <a:spcAft>
                <a:spcPts val="10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github.com/zhaocorey/M-DaQ</a:t>
            </a:r>
          </a:p>
          <a:p>
            <a:pPr algn="l">
              <a:spcAft>
                <a:spcPts val="8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  Paper</a:t>
            </a:r>
          </a:p>
          <a:p>
            <a:pPr algn="l">
              <a:spcAft>
                <a:spcPts val="10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DOI: 10.1145/3805712.3809946   |   arXiv: 2509.15549</a:t>
            </a:r>
          </a:p>
          <a:p>
            <a:pPr algn="l">
              <a:spcAft>
                <a:spcPts val="8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📧  Contact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zhaochunguang6@huawei.com   |   +86-15501192353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2473879"/>
            <a:ext cx="3026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SIGIR 2026  ·  Melbourne, VIC, Australia  ·  July 20–24,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19604" y="2743200"/>
            <a:ext cx="27432" cy="3973067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