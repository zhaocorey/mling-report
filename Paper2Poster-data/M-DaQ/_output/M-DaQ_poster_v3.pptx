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266640" cy="427939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266640" cy="3474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28803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latin typeface="Arial"/>
                <a:solidFill>
                  <a:srgbClr val="FFFFFF"/>
                </a:solidFill>
              </a:rPr>
              <a:t>M-DaQ: Retrieving Samples with Multilingual Diversity
and Quality for Instruction Fine-Tuning Datasets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2880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latin typeface="Arial"/>
                <a:solidFill>
                  <a:srgbClr val="FFFFFF"/>
                </a:solidFill>
              </a:rPr>
              <a:t>Chunguang Zhao¹ · Yilun Liu¹ · Pufan Zeng² · Yuanchang Luo¹ · Shimin Tao¹ · Minggui He¹ · Weibin Meng¹ · Song Xu² · Chen Liu¹ · Hongxia Ma¹ · Li Zhang¹ · Boxing Chen¹ · Daimeng Wei¹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2880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latin typeface="Arial"/>
                <a:solidFill>
                  <a:srgbClr val="BBCCDD"/>
                </a:solidFill>
              </a:rPr>
              <a:t>¹ Huawei Technologies Ltd.    ² University of Science and Technology of China</a:t>
            </a:r>
          </a:p>
        </p:txBody>
      </p:sp>
      <p:pic>
        <p:nvPicPr>
          <p:cNvPr id="6" name="Picture 5" descr="huawe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514600"/>
            <a:ext cx="3040380" cy="685800"/>
          </a:xfrm>
          <a:prstGeom prst="rect">
            <a:avLst/>
          </a:prstGeom>
        </p:spPr>
      </p:pic>
      <p:pic>
        <p:nvPicPr>
          <p:cNvPr id="7" name="Picture 6" descr="ustc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94640" y="2514600"/>
            <a:ext cx="3581400" cy="685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475720" y="26060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latin typeface="Arial"/>
                <a:solidFill>
                  <a:srgbClr val="E8792B"/>
                </a:solidFill>
              </a:rPr>
              <a:t>SIGIR 2026  ·  Melbourne, Australia  ·  July 20–24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31920"/>
            <a:ext cx="929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latin typeface="Arial"/>
                <a:solidFill>
                  <a:srgbClr val="1B3A5C"/>
                </a:solidFill>
              </a:rPr>
              <a:t>1  MOTIVATION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434840"/>
            <a:ext cx="9296400" cy="45720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663440"/>
            <a:ext cx="9296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200">
                <a:latin typeface="Arial"/>
                <a:solidFill>
                  <a:srgbClr val="222222"/>
                </a:solidFill>
              </a:rPr>
              <a:t>• Multilingual IFT data is scarce, skewed toward English, and lacks systematic curation</a:t>
            </a:r>
          </a:p>
          <a:p>
            <a:pPr>
              <a:spcAft>
                <a:spcPts val="1600"/>
              </a:spcAft>
            </a:pPr>
            <a:r>
              <a:rPr sz="2200">
                <a:latin typeface="Arial"/>
                <a:solidFill>
                  <a:srgbClr val="222222"/>
                </a:solidFill>
              </a:rPr>
              <a:t>• Llama-3 IFT dataset: only 3.01% multilingual samples</a:t>
            </a:r>
          </a:p>
          <a:p>
            <a:pPr>
              <a:spcAft>
                <a:spcPts val="1600"/>
              </a:spcAft>
            </a:pPr>
            <a:r>
              <a:rPr sz="2200">
                <a:latin typeface="Arial"/>
                <a:solidFill>
                  <a:srgbClr val="222222"/>
                </a:solidFill>
              </a:rPr>
              <a:t>• No language-agnostic quality scoring for multilingual data</a:t>
            </a:r>
          </a:p>
          <a:p>
            <a:pPr>
              <a:spcAft>
                <a:spcPts val="1600"/>
              </a:spcAft>
            </a:pPr>
            <a:r>
              <a:rPr sz="2200">
                <a:latin typeface="Arial"/>
                <a:solidFill>
                  <a:srgbClr val="222222"/>
                </a:solidFill>
              </a:rPr>
              <a:t>• Data diversity studied only in English settings</a:t>
            </a:r>
          </a:p>
          <a:p>
            <a:pPr>
              <a:spcAft>
                <a:spcPts val="1600"/>
              </a:spcAft>
            </a:pPr>
            <a:r>
              <a:rPr sz="2200">
                <a:latin typeface="Arial"/>
                <a:solidFill>
                  <a:srgbClr val="222222"/>
                </a:solidFill>
              </a:rPr>
              <a:t>• Superficial Alignment Hypothesis (SAH) unverified in multilingual contexts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1521440"/>
            <a:ext cx="929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latin typeface="Arial"/>
                <a:solidFill>
                  <a:srgbClr val="1B3A5C"/>
                </a:solidFill>
              </a:rPr>
              <a:t>Three Challenges Addressed: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20700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latin typeface="Arial"/>
                <a:solidFill>
                  <a:srgbClr val="E8792B"/>
                </a:solidFill>
              </a:rPr>
              <a:t>C1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12070080"/>
            <a:ext cx="874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0">
                <a:latin typeface="Arial"/>
                <a:solidFill>
                  <a:srgbClr val="222222"/>
                </a:solidFill>
              </a:rPr>
              <a:t>No extensible quality scoring for multilingual IFT</a:t>
            </a:r>
          </a:p>
          <a:p>
            <a:pPr algn="l">
              <a:spcAft>
                <a:spcPts val="400"/>
              </a:spcAft>
            </a:pPr>
            <a:r>
              <a:rPr sz="1800" b="1">
                <a:latin typeface="Arial"/>
                <a:solidFill>
                  <a:srgbClr val="E8792B"/>
                </a:solidFill>
              </a:rPr>
              <a:t>→ QSM with triplet loss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13075919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latin typeface="Arial"/>
                <a:solidFill>
                  <a:srgbClr val="E8792B"/>
                </a:solidFill>
              </a:rPr>
              <a:t>C2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13075919"/>
            <a:ext cx="874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0">
                <a:latin typeface="Arial"/>
                <a:solidFill>
                  <a:srgbClr val="222222"/>
                </a:solidFill>
              </a:rPr>
              <a:t>Diversity selection limited to English</a:t>
            </a:r>
          </a:p>
          <a:p>
            <a:pPr algn="l">
              <a:spcAft>
                <a:spcPts val="400"/>
              </a:spcAft>
            </a:pPr>
            <a:r>
              <a:rPr sz="1800" b="1">
                <a:latin typeface="Arial"/>
                <a:solidFill>
                  <a:srgbClr val="E8792B"/>
                </a:solidFill>
              </a:rPr>
              <a:t>→ DAS inspired by MMR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14081759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latin typeface="Arial"/>
                <a:solidFill>
                  <a:srgbClr val="E8792B"/>
                </a:solidFill>
              </a:rPr>
              <a:t>C3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14081759"/>
            <a:ext cx="874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0">
                <a:latin typeface="Arial"/>
                <a:solidFill>
                  <a:srgbClr val="222222"/>
                </a:solidFill>
              </a:rPr>
              <a:t>SAH unverified in multilingual settings</a:t>
            </a:r>
          </a:p>
          <a:p>
            <a:pPr algn="l">
              <a:spcAft>
                <a:spcPts val="400"/>
              </a:spcAft>
            </a:pPr>
            <a:r>
              <a:rPr sz="1800" b="1">
                <a:latin typeface="Arial"/>
                <a:solidFill>
                  <a:srgbClr val="E8792B"/>
                </a:solidFill>
              </a:rPr>
              <a:t>→ 1K→52K study, 8 languages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17583911"/>
            <a:ext cx="929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latin typeface="Arial"/>
                <a:solidFill>
                  <a:srgbClr val="1B3A5C"/>
                </a:solidFill>
              </a:rPr>
              <a:t>2  METHOD: M-DaQ FRAMEWORK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18086831"/>
            <a:ext cx="9296400" cy="45720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18315431"/>
            <a:ext cx="929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latin typeface="Arial"/>
                <a:solidFill>
                  <a:srgbClr val="E8792B"/>
                </a:solidFill>
              </a:rPr>
              <a:t>Stage 1: Quality Scoring Model (QSM)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18772631"/>
            <a:ext cx="929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latin typeface="Arial"/>
                <a:solidFill>
                  <a:srgbClr val="222222"/>
                </a:solidFill>
              </a:rPr>
              <a:t>• Fine-tuned on ~2.3K expert-revised samples × 18 languages (from MIDB)</a:t>
            </a:r>
          </a:p>
          <a:p>
            <a:pPr>
              <a:spcAft>
                <a:spcPts val="1200"/>
              </a:spcAft>
            </a:pPr>
            <a:r>
              <a:rPr sz="2000">
                <a:latin typeface="Arial"/>
                <a:solidFill>
                  <a:srgbClr val="222222"/>
                </a:solidFill>
              </a:rPr>
              <a:t>• Triplet loss: instruction → positive (expert-revised) vs negative (original/MT)</a:t>
            </a:r>
          </a:p>
          <a:p>
            <a:pPr>
              <a:spcAft>
                <a:spcPts val="1200"/>
              </a:spcAft>
            </a:pPr>
            <a:r>
              <a:rPr sz="2000">
                <a:latin typeface="Arial"/>
                <a:solidFill>
                  <a:srgbClr val="222222"/>
                </a:solidFill>
              </a:rPr>
              <a:t>• Language-agnostic quality signal from embedding space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21973031"/>
            <a:ext cx="929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latin typeface="Arial"/>
                <a:solidFill>
                  <a:srgbClr val="E8792B"/>
                </a:solidFill>
              </a:rPr>
              <a:t>Stage 2: Diversity-Aware Selection (DAS)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22430231"/>
            <a:ext cx="929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latin typeface="Arial"/>
                <a:solidFill>
                  <a:srgbClr val="222222"/>
                </a:solidFill>
              </a:rPr>
              <a:t>• MMR-inspired: Quality ≈ Relevance, Diversity ≈ Novelty</a:t>
            </a:r>
          </a:p>
          <a:p>
            <a:pPr>
              <a:spcAft>
                <a:spcPts val="1200"/>
              </a:spcAft>
            </a:pPr>
            <a:r>
              <a:rPr sz="2000">
                <a:latin typeface="Arial"/>
                <a:solidFill>
                  <a:srgbClr val="222222"/>
                </a:solidFill>
              </a:rPr>
              <a:t>• Two-stage pipeline reduces O(n²) → O(n log n)</a:t>
            </a:r>
          </a:p>
          <a:p>
            <a:pPr>
              <a:spcAft>
                <a:spcPts val="1200"/>
              </a:spcAft>
            </a:pPr>
            <a:r>
              <a:rPr sz="2000">
                <a:latin typeface="Arial"/>
                <a:solidFill>
                  <a:srgbClr val="222222"/>
                </a:solidFill>
              </a:rPr>
              <a:t>•   Stage A: Select top-n by QSM score (quality subset)</a:t>
            </a:r>
          </a:p>
          <a:p>
            <a:pPr>
              <a:spcAft>
                <a:spcPts val="1200"/>
              </a:spcAft>
            </a:pPr>
            <a:r>
              <a:rPr sz="2000">
                <a:latin typeface="Arial"/>
                <a:solidFill>
                  <a:srgbClr val="222222"/>
                </a:solidFill>
              </a:rPr>
              <a:t>•   Stage B: Greedily augment from uncovered clusters (diversity subset)</a:t>
            </a:r>
          </a:p>
          <a:p>
            <a:pPr>
              <a:spcAft>
                <a:spcPts val="1200"/>
              </a:spcAft>
            </a:pPr>
            <a:r>
              <a:rPr sz="2000">
                <a:latin typeface="Arial"/>
                <a:solidFill>
                  <a:srgbClr val="222222"/>
                </a:solidFill>
              </a:rPr>
              <a:t>• Ratio n_quality : n_diversity = 6:1 (empirically tuned)</a:t>
            </a:r>
          </a:p>
        </p:txBody>
      </p:sp>
      <p:pic>
        <p:nvPicPr>
          <p:cNvPr id="25" name="Picture 24" descr="fig_p1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7002231"/>
            <a:ext cx="9296400" cy="722020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31520" y="34268155"/>
            <a:ext cx="929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latin typeface="Arial"/>
                <a:solidFill>
                  <a:srgbClr val="666666"/>
                </a:solidFill>
              </a:rPr>
              <a:t>Figure: M-DaQ two-stage pipeline (QSM + DAS)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85120" y="3931920"/>
            <a:ext cx="929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latin typeface="Arial"/>
                <a:solidFill>
                  <a:srgbClr val="1B3A5C"/>
                </a:solidFill>
              </a:rPr>
              <a:t>3  KEY RESULTS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485120" y="4434840"/>
            <a:ext cx="9296400" cy="45720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485120" y="4663440"/>
            <a:ext cx="9296400" cy="12801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668000" y="4754879"/>
            <a:ext cx="893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2000" b="1">
                <a:latin typeface="Arial"/>
                <a:solidFill>
                  <a:srgbClr val="1B3A5C"/>
                </a:solidFill>
              </a:rPr>
              <a:t>LLM-as-Judge: Avg Win Rate (M-DaQ vs Vanilla)</a:t>
            </a:r>
          </a:p>
          <a:p>
            <a:pPr algn="ctr">
              <a:spcAft>
                <a:spcPts val="400"/>
              </a:spcAft>
            </a:pPr>
            <a:r>
              <a:rPr sz="2000" b="1">
                <a:latin typeface="Arial"/>
                <a:solidFill>
                  <a:srgbClr val="E8792B"/>
                </a:solidFill>
              </a:rPr>
              <a:t>Alpaca-Eval: 60.2%  |  MT-Bench R1: 62.6%  |  MT-Bench R2: 62.9%</a:t>
            </a:r>
          </a:p>
        </p:txBody>
      </p:sp>
      <p:pic>
        <p:nvPicPr>
          <p:cNvPr id="31" name="Picture 30" descr="fig_p1_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85120" y="6217920"/>
            <a:ext cx="9296400" cy="4724706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0485120" y="10988345"/>
            <a:ext cx="929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latin typeface="Arial"/>
                <a:solidFill>
                  <a:srgbClr val="666666"/>
                </a:solidFill>
              </a:rPr>
              <a:t>Cross-lingual win rates across 18 languages (Alpaca-Eval + MT-Bench)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85120" y="19495008"/>
            <a:ext cx="929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latin typeface="Arial"/>
                <a:solidFill>
                  <a:srgbClr val="1B3A5C"/>
                </a:solidFill>
              </a:rPr>
              <a:t>Key Observations: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85120" y="19952208"/>
            <a:ext cx="929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latin typeface="Arial"/>
                <a:solidFill>
                  <a:srgbClr val="222222"/>
                </a:solidFill>
              </a:rPr>
              <a:t>• Consistent improvement across all 18 languages</a:t>
            </a:r>
          </a:p>
          <a:p>
            <a:pPr>
              <a:spcAft>
                <a:spcPts val="1200"/>
              </a:spcAft>
            </a:pPr>
            <a:r>
              <a:rPr sz="2000">
                <a:latin typeface="Arial"/>
                <a:solidFill>
                  <a:srgbClr val="222222"/>
                </a:solidFill>
              </a:rPr>
              <a:t>• Gains MORE pronounced in low-resource languages (Tagalog, Malay)</a:t>
            </a:r>
          </a:p>
          <a:p>
            <a:pPr>
              <a:spcAft>
                <a:spcPts val="1200"/>
              </a:spcAft>
            </a:pPr>
            <a:r>
              <a:rPr sz="2000">
                <a:latin typeface="Arial"/>
                <a:solidFill>
                  <a:srgbClr val="222222"/>
                </a:solidFill>
              </a:rPr>
              <a:t>• M-DaQ effectively mitigates linguistic imbalance and data scarcity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85120" y="22969728"/>
            <a:ext cx="929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latin typeface="Arial"/>
                <a:solidFill>
                  <a:srgbClr val="1B3A5C"/>
                </a:solidFill>
              </a:rPr>
              <a:t>Human Evaluation (6 Langs, 900 Samples, 58 Person-Hours):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10485120" y="23426928"/>
          <a:ext cx="92964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2231136"/>
                <a:gridCol w="2138172"/>
                <a:gridCol w="2138172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latin typeface="Arial"/>
                          <a:solidFill>
                            <a:srgbClr val="FFFFFF"/>
                          </a:solidFill>
                        </a:rPr>
                        <a:t>Language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latin typeface="Arial"/>
                          <a:solidFill>
                            <a:srgbClr val="FFFFFF"/>
                          </a:solidFill>
                        </a:rPr>
                        <a:t>Alpaca-Eval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latin typeface="Arial"/>
                          <a:solidFill>
                            <a:srgbClr val="FFFFFF"/>
                          </a:solidFill>
                        </a:rPr>
                        <a:t>MT-Bench R1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latin typeface="Arial"/>
                          <a:solidFill>
                            <a:srgbClr val="FFFFFF"/>
                          </a:solidFill>
                        </a:rPr>
                        <a:t>MT-Bench R2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latin typeface="Arial"/>
                          <a:solidFill>
                            <a:srgbClr val="1B3A5C"/>
                          </a:solidFill>
                        </a:rPr>
                        <a:t>Japanese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latin typeface="Arial"/>
                          <a:solidFill>
                            <a:srgbClr val="222222"/>
                          </a:solidFill>
                        </a:rPr>
                        <a:t>86%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latin typeface="Arial"/>
                          <a:solidFill>
                            <a:srgbClr val="222222"/>
                          </a:solidFill>
                        </a:rPr>
                        <a:t>84%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latin typeface="Arial"/>
                          <a:solidFill>
                            <a:srgbClr val="222222"/>
                          </a:solidFill>
                        </a:rPr>
                        <a:t>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latin typeface="Arial"/>
                          <a:solidFill>
                            <a:srgbClr val="1B3A5C"/>
                          </a:solidFill>
                        </a:rPr>
                        <a:t>Korean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latin typeface="Arial"/>
                          <a:solidFill>
                            <a:srgbClr val="222222"/>
                          </a:solidFill>
                        </a:rPr>
                        <a:t>94%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latin typeface="Arial"/>
                          <a:solidFill>
                            <a:srgbClr val="222222"/>
                          </a:solidFill>
                        </a:rPr>
                        <a:t>94%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latin typeface="Arial"/>
                          <a:solidFill>
                            <a:srgbClr val="222222"/>
                          </a:solidFill>
                        </a:rPr>
                        <a:t>94%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latin typeface="Arial"/>
                          <a:solidFill>
                            <a:srgbClr val="1B3A5C"/>
                          </a:solidFill>
                        </a:rPr>
                        <a:t>Russian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latin typeface="Arial"/>
                          <a:solidFill>
                            <a:srgbClr val="222222"/>
                          </a:solidFill>
                        </a:rPr>
                        <a:t>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latin typeface="Arial"/>
                          <a:solidFill>
                            <a:srgbClr val="222222"/>
                          </a:solidFill>
                        </a:rPr>
                        <a:t>86%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latin typeface="Arial"/>
                          <a:solidFill>
                            <a:srgbClr val="222222"/>
                          </a:solidFill>
                        </a:rPr>
                        <a:t>84%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latin typeface="Arial"/>
                          <a:solidFill>
                            <a:srgbClr val="1B3A5C"/>
                          </a:solidFill>
                        </a:rPr>
                        <a:t>Portuguese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latin typeface="Arial"/>
                          <a:solidFill>
                            <a:srgbClr val="222222"/>
                          </a:solidFill>
                        </a:rPr>
                        <a:t>80%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latin typeface="Arial"/>
                          <a:solidFill>
                            <a:srgbClr val="222222"/>
                          </a:solidFill>
                        </a:rPr>
                        <a:t>78%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latin typeface="Arial"/>
                          <a:solidFill>
                            <a:srgbClr val="222222"/>
                          </a:solidFill>
                        </a:rPr>
                        <a:t>84%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latin typeface="Arial"/>
                          <a:solidFill>
                            <a:srgbClr val="1B3A5C"/>
                          </a:solidFill>
                        </a:rPr>
                        <a:t>Greek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latin typeface="Arial"/>
                          <a:solidFill>
                            <a:srgbClr val="222222"/>
                          </a:solidFill>
                        </a:rPr>
                        <a:t>58%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latin typeface="Arial"/>
                          <a:solidFill>
                            <a:srgbClr val="222222"/>
                          </a:solidFill>
                        </a:rPr>
                        <a:t>76%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latin typeface="Arial"/>
                          <a:solidFill>
                            <a:srgbClr val="222222"/>
                          </a:solidFill>
                        </a:rPr>
                        <a:t>82%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latin typeface="Arial"/>
                          <a:solidFill>
                            <a:srgbClr val="1B3A5C"/>
                          </a:solidFill>
                        </a:rPr>
                        <a:t>French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latin typeface="Arial"/>
                          <a:solidFill>
                            <a:srgbClr val="222222"/>
                          </a:solidFill>
                        </a:rPr>
                        <a:t>80%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latin typeface="Arial"/>
                          <a:solidFill>
                            <a:srgbClr val="222222"/>
                          </a:solidFill>
                        </a:rPr>
                        <a:t>92%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latin typeface="Arial"/>
                          <a:solidFill>
                            <a:srgbClr val="222222"/>
                          </a:solidFill>
                        </a:rPr>
                        <a:t>88%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latin typeface="Arial"/>
                          <a:solidFill>
                            <a:srgbClr val="1B3A5C"/>
                          </a:solidFill>
                        </a:rPr>
                        <a:t>Average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latin typeface="Arial"/>
                          <a:solidFill>
                            <a:srgbClr val="1B3A5C"/>
                          </a:solidFill>
                        </a:rPr>
                        <a:t>78.0%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latin typeface="Arial"/>
                          <a:solidFill>
                            <a:srgbClr val="1B3A5C"/>
                          </a:solidFill>
                        </a:rPr>
                        <a:t>85.0%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latin typeface="Arial"/>
                          <a:solidFill>
                            <a:srgbClr val="1B3A5C"/>
                          </a:solidFill>
                        </a:rPr>
                        <a:t>85.3%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7" name="TextBox 36"/>
          <p:cNvSpPr txBox="1"/>
          <p:nvPr/>
        </p:nvSpPr>
        <p:spPr>
          <a:xfrm>
            <a:off x="10485120" y="31144464"/>
            <a:ext cx="929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latin typeface="Arial"/>
                <a:solidFill>
                  <a:srgbClr val="1B3A5C"/>
                </a:solidFill>
              </a:rPr>
              <a:t>Cultural Localization Example:</a:t>
            </a:r>
          </a:p>
        </p:txBody>
      </p:sp>
      <p:pic>
        <p:nvPicPr>
          <p:cNvPr id="38" name="Picture 37" descr="fig_p4_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85120" y="31601664"/>
            <a:ext cx="9296400" cy="46482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0485120" y="36341304"/>
            <a:ext cx="929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latin typeface="Arial"/>
                <a:solidFill>
                  <a:srgbClr val="666666"/>
                </a:solidFill>
              </a:rPr>
              <a:t>French travel query about Corsica → M-DaQ references Piana, figatelli, local cultural conventions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238720" y="3931920"/>
            <a:ext cx="929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latin typeface="Arial"/>
                <a:solidFill>
                  <a:srgbClr val="1B3A5C"/>
                </a:solidFill>
              </a:rPr>
              <a:t>4  SAH IN MULTILINGUAL SETTINGS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0238720" y="4434840"/>
            <a:ext cx="9296400" cy="45720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0238720" y="4663440"/>
            <a:ext cx="929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latin typeface="Arial"/>
                <a:solidFill>
                  <a:srgbClr val="222222"/>
                </a:solidFill>
              </a:rPr>
              <a:t>First systematic investigation of the Superficial Alignment Hypothesis across languages.</a:t>
            </a:r>
          </a:p>
        </p:txBody>
      </p:sp>
      <p:pic>
        <p:nvPicPr>
          <p:cNvPr id="43" name="Picture 42" descr="fig_p4_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238720" y="5394959"/>
            <a:ext cx="9296400" cy="650748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20238720" y="11948160"/>
            <a:ext cx="929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latin typeface="Arial"/>
                <a:solidFill>
                  <a:srgbClr val="666666"/>
                </a:solidFill>
              </a:rPr>
              <a:t>Win rate vs IFT dataset scale (1K–52K), 8 languages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238720" y="12633960"/>
            <a:ext cx="929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latin typeface="Arial"/>
                <a:solidFill>
                  <a:srgbClr val="1B3A5C"/>
                </a:solidFill>
              </a:rPr>
              <a:t>Key Findings: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238720" y="13091160"/>
            <a:ext cx="9296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latin typeface="Arial"/>
                <a:solidFill>
                  <a:srgbClr val="222222"/>
                </a:solidFill>
              </a:rPr>
              <a:t>• ✅  Diminishing returns: 1K curated &gt; 52K unfiltered</a:t>
            </a:r>
          </a:p>
          <a:p>
            <a:pPr>
              <a:spcAft>
                <a:spcPts val="1000"/>
              </a:spcAft>
            </a:pPr>
            <a:r>
              <a:rPr sz="2000">
                <a:latin typeface="Arial"/>
                <a:solidFill>
                  <a:srgbClr val="222222"/>
                </a:solidFill>
              </a:rPr>
              <a:t>•      — SAH holds multilingually</a:t>
            </a:r>
          </a:p>
          <a:p>
            <a:pPr>
              <a:spcAft>
                <a:spcPts val="1000"/>
              </a:spcAft>
            </a:pPr>
            <a:r>
              <a:rPr sz="2000">
                <a:latin typeface="Arial"/>
                <a:solidFill>
                  <a:srgbClr val="222222"/>
                </a:solidFill>
              </a:rPr>
              <a:t>•      10K → −10.1% avg win rate vs 1K baseline</a:t>
            </a:r>
          </a:p>
          <a:p>
            <a:pPr>
              <a:spcAft>
                <a:spcPts val="1000"/>
              </a:spcAft>
            </a:pPr>
            <a:r>
              <a:rPr sz="2000">
                <a:latin typeface="Arial"/>
                <a:solidFill>
                  <a:srgbClr val="222222"/>
                </a:solidFill>
              </a:rPr>
              <a:t>•      52K → −6.2% avg win rate vs 1K baseline</a:t>
            </a:r>
          </a:p>
          <a:p>
            <a:pPr>
              <a:spcAft>
                <a:spcPts val="1000"/>
              </a:spcAft>
            </a:pPr>
            <a:r>
              <a:rPr sz="2000">
                <a:latin typeface="Arial"/>
                <a:solidFill>
                  <a:srgbClr val="222222"/>
                </a:solidFill>
              </a:rPr>
              <a:t>• ⚠️  Language-dependent sensitivity:</a:t>
            </a:r>
          </a:p>
          <a:p>
            <a:pPr>
              <a:spcAft>
                <a:spcPts val="1000"/>
              </a:spcAft>
            </a:pPr>
            <a:r>
              <a:rPr sz="2000">
                <a:latin typeface="Arial"/>
                <a:solidFill>
                  <a:srgbClr val="222222"/>
                </a:solidFill>
              </a:rPr>
              <a:t>•      Arabic shows flatter curve than French</a:t>
            </a:r>
          </a:p>
          <a:p>
            <a:pPr>
              <a:spcAft>
                <a:spcPts val="1000"/>
              </a:spcAft>
            </a:pPr>
            <a:r>
              <a:rPr sz="2000">
                <a:latin typeface="Arial"/>
                <a:solidFill>
                  <a:srgbClr val="222222"/>
                </a:solidFill>
              </a:rPr>
              <a:t>•      (lower pretraining readiness)</a:t>
            </a:r>
          </a:p>
          <a:p>
            <a:pPr>
              <a:spcAft>
                <a:spcPts val="1000"/>
              </a:spcAft>
            </a:pPr>
            <a:r>
              <a:rPr sz="2000">
                <a:latin typeface="Arial"/>
                <a:solidFill>
                  <a:srgbClr val="222222"/>
                </a:solidFill>
              </a:rPr>
              <a:t>• 💡  A few thousand high-quality samples suffice</a:t>
            </a:r>
          </a:p>
          <a:p>
            <a:pPr>
              <a:spcAft>
                <a:spcPts val="1000"/>
              </a:spcAft>
            </a:pPr>
            <a:r>
              <a:rPr sz="2000">
                <a:latin typeface="Arial"/>
                <a:solidFill>
                  <a:srgbClr val="222222"/>
                </a:solidFill>
              </a:rPr>
              <a:t>•      for effective multilingual alignment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238720" y="22735641"/>
            <a:ext cx="929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latin typeface="Arial"/>
                <a:solidFill>
                  <a:srgbClr val="1B3A5C"/>
                </a:solidFill>
              </a:rPr>
              <a:t>5  CONCLUSION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0238720" y="23238561"/>
            <a:ext cx="9296400" cy="45720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238720" y="23467161"/>
            <a:ext cx="9296400" cy="64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latin typeface="Arial"/>
                <a:solidFill>
                  <a:srgbClr val="222222"/>
                </a:solidFill>
              </a:rPr>
              <a:t>• M-DaQ = QSM (quality) + DAS (diversity):</a:t>
            </a:r>
          </a:p>
          <a:p>
            <a:pPr>
              <a:spcAft>
                <a:spcPts val="1000"/>
              </a:spcAft>
            </a:pPr>
            <a:r>
              <a:rPr sz="2000">
                <a:latin typeface="Arial"/>
                <a:solidFill>
                  <a:srgbClr val="222222"/>
                </a:solidFill>
              </a:rPr>
              <a:t>•   compact, high-fidelity multilingual IFT subsets</a:t>
            </a:r>
          </a:p>
          <a:p>
            <a:pPr>
              <a:spcAft>
                <a:spcPts val="1000"/>
              </a:spcAft>
            </a:pPr>
            <a:r>
              <a:rPr sz="2000">
                <a:latin typeface="Arial"/>
                <a:solidFill>
                  <a:srgbClr val="222222"/>
                </a:solidFill>
              </a:rPr>
              <a:t>• 60%+ avg win rate across 18 languages</a:t>
            </a:r>
          </a:p>
          <a:p>
            <a:pPr>
              <a:spcAft>
                <a:spcPts val="1000"/>
              </a:spcAft>
            </a:pPr>
            <a:r>
              <a:rPr sz="2000">
                <a:latin typeface="Arial"/>
                <a:solidFill>
                  <a:srgbClr val="222222"/>
                </a:solidFill>
              </a:rPr>
              <a:t>•   on Alpaca-Eval &amp; MT-Bench</a:t>
            </a:r>
          </a:p>
          <a:p>
            <a:pPr>
              <a:spcAft>
                <a:spcPts val="1000"/>
              </a:spcAft>
            </a:pPr>
            <a:r>
              <a:rPr sz="2000">
                <a:latin typeface="Arial"/>
                <a:solidFill>
                  <a:srgbClr val="222222"/>
                </a:solidFill>
              </a:rPr>
              <a:t>• Human eval confirms gains in cultural relevance,</a:t>
            </a:r>
          </a:p>
          <a:p>
            <a:pPr>
              <a:spcAft>
                <a:spcPts val="1000"/>
              </a:spcAft>
            </a:pPr>
            <a:r>
              <a:rPr sz="2000">
                <a:latin typeface="Arial"/>
                <a:solidFill>
                  <a:srgbClr val="222222"/>
                </a:solidFill>
              </a:rPr>
              <a:t>•   contextual appropriateness, instruction-following</a:t>
            </a:r>
          </a:p>
          <a:p>
            <a:pPr>
              <a:spcAft>
                <a:spcPts val="1000"/>
              </a:spcAft>
            </a:pPr>
            <a:r>
              <a:rPr sz="2000">
                <a:latin typeface="Arial"/>
                <a:solidFill>
                  <a:srgbClr val="222222"/>
                </a:solidFill>
              </a:rPr>
              <a:t>• First empirical validation of SAH</a:t>
            </a:r>
          </a:p>
          <a:p>
            <a:pPr>
              <a:spcAft>
                <a:spcPts val="1000"/>
              </a:spcAft>
            </a:pPr>
            <a:r>
              <a:rPr sz="2000">
                <a:latin typeface="Arial"/>
                <a:solidFill>
                  <a:srgbClr val="222222"/>
                </a:solidFill>
              </a:rPr>
              <a:t>•   in multilingual settings</a:t>
            </a:r>
          </a:p>
          <a:p>
            <a:pPr>
              <a:spcAft>
                <a:spcPts val="1000"/>
              </a:spcAft>
            </a:pPr>
            <a:r>
              <a:rPr sz="2000">
                <a:latin typeface="Arial"/>
                <a:solidFill>
                  <a:srgbClr val="222222"/>
                </a:solidFill>
              </a:rPr>
              <a:t>• Code released: github.com/zhaocorey/M-DaQ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0238720" y="34476537"/>
            <a:ext cx="9296400" cy="41148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0513040" y="34659417"/>
            <a:ext cx="874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>
                <a:latin typeface="Arial"/>
                <a:solidFill>
                  <a:srgbClr val="1B3A5C"/>
                </a:solidFill>
              </a:rPr>
              <a:t>📎 Code &amp; Resources</a:t>
            </a:r>
          </a:p>
          <a:p>
            <a:pPr algn="l">
              <a:spcAft>
                <a:spcPts val="1200"/>
              </a:spcAft>
            </a:pPr>
            <a:r>
              <a:rPr sz="1800" b="0">
                <a:latin typeface="Arial"/>
                <a:solidFill>
                  <a:srgbClr val="222222"/>
                </a:solidFill>
              </a:rPr>
              <a:t>GitHub: github.com/zhaocorey/M-DaQ</a:t>
            </a:r>
          </a:p>
          <a:p>
            <a:pPr algn="l">
              <a:spcAft>
                <a:spcPts val="1000"/>
              </a:spcAft>
            </a:pPr>
            <a:r>
              <a:rPr sz="2200" b="1">
                <a:latin typeface="Arial"/>
                <a:solidFill>
                  <a:srgbClr val="1B3A5C"/>
                </a:solidFill>
              </a:rPr>
              <a:t>📄 Paper</a:t>
            </a:r>
          </a:p>
          <a:p>
            <a:pPr algn="l">
              <a:spcAft>
                <a:spcPts val="400"/>
              </a:spcAft>
            </a:pPr>
            <a:r>
              <a:rPr sz="1800" b="0">
                <a:latin typeface="Arial"/>
                <a:solidFill>
                  <a:srgbClr val="222222"/>
                </a:solidFill>
              </a:rPr>
              <a:t>DOI: 10.1145/3805712.3809946</a:t>
            </a:r>
          </a:p>
          <a:p>
            <a:pPr algn="l">
              <a:spcAft>
                <a:spcPts val="1200"/>
              </a:spcAft>
            </a:pPr>
            <a:r>
              <a:rPr sz="1800" b="0">
                <a:latin typeface="Arial"/>
                <a:solidFill>
                  <a:srgbClr val="222222"/>
                </a:solidFill>
              </a:rPr>
              <a:t>arXiv: 2509.15549</a:t>
            </a:r>
          </a:p>
          <a:p>
            <a:pPr algn="l">
              <a:spcAft>
                <a:spcPts val="1000"/>
              </a:spcAft>
            </a:pPr>
            <a:r>
              <a:rPr sz="2200" b="1">
                <a:latin typeface="Arial"/>
                <a:solidFill>
                  <a:srgbClr val="1B3A5C"/>
                </a:solidFill>
              </a:rPr>
              <a:t>📧 Contact</a:t>
            </a:r>
          </a:p>
          <a:p>
            <a:pPr algn="l">
              <a:spcAft>
                <a:spcPts val="400"/>
              </a:spcAft>
            </a:pPr>
            <a:r>
              <a:rPr sz="1800" b="0">
                <a:latin typeface="Arial"/>
                <a:solidFill>
                  <a:srgbClr val="222222"/>
                </a:solidFill>
              </a:rPr>
              <a:t>zhaochunguang6@huawei.com</a:t>
            </a:r>
          </a:p>
          <a:p>
            <a:pPr algn="l">
              <a:spcAft>
                <a:spcPts val="400"/>
              </a:spcAft>
            </a:pPr>
            <a:r>
              <a:rPr sz="1800" b="0">
                <a:latin typeface="Arial"/>
                <a:solidFill>
                  <a:srgbClr val="222222"/>
                </a:solidFill>
              </a:rPr>
              <a:t>+86-15501192353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0" y="42153839"/>
            <a:ext cx="3026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latin typeface="Arial"/>
                <a:solidFill>
                  <a:srgbClr val="666666"/>
                </a:solidFill>
              </a:rPr>
              <a:t>SIGIR 2026  ·  Melbourne, VIC, Australia  ·  July 20–24,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