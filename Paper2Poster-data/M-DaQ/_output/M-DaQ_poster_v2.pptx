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66640" cy="427939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0" y="1080000"/>
            <a:ext cx="28106640" cy="288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40000" y="1368000"/>
            <a:ext cx="27386640" cy="162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15000"/>
              </a:lnSpc>
              <a:spcAft>
                <a:spcPts val="1450"/>
              </a:spcAft>
            </a:pPr>
            <a:r>
              <a:rPr sz="5800" b="1">
                <a:latin typeface="Arial"/>
                <a:solidFill>
                  <a:srgbClr val="FFFFFF"/>
                </a:solidFill>
              </a:rPr>
              <a:t>M-DaQ: Retrieving Samples with Multilingual Diversity</a:t>
            </a:r>
          </a:p>
          <a:p>
            <a:pPr algn="ctr">
              <a:lnSpc>
                <a:spcPct val="115000"/>
              </a:lnSpc>
              <a:spcAft>
                <a:spcPts val="1450"/>
              </a:spcAft>
            </a:pPr>
            <a:r>
              <a:rPr sz="5800" b="1">
                <a:latin typeface="Arial"/>
                <a:solidFill>
                  <a:srgbClr val="FFFFFF"/>
                </a:solidFill>
              </a:rPr>
              <a:t>and Quality for Instruction Fine-Tuning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40000" y="2952000"/>
            <a:ext cx="27386640" cy="468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50"/>
              </a:spcAft>
            </a:pPr>
            <a:r>
              <a:rPr sz="1800" b="0">
                <a:latin typeface="Arial"/>
                <a:solidFill>
                  <a:srgbClr val="FFFFFF"/>
                </a:solidFill>
              </a:rPr>
              <a:t>Chunguang Zhao¹ · Yilun Liu¹ · Pufan Zeng² · Yuanchang Luo¹ · Shimin Tao¹ · Minggui He¹ · Weibin Meng¹ · Song Xu² · Chen Liu¹ · Hongxia Ma¹ · Li Zhang¹ · Boxing Chen¹ · Daimeng Wei¹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40000" y="3420000"/>
            <a:ext cx="27386640" cy="36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CCDDEE"/>
                </a:solidFill>
              </a:rPr>
              <a:t>¹ Huawei Technologies Ltd.    ² University of Science and Technology of China</a:t>
            </a:r>
          </a:p>
        </p:txBody>
      </p:sp>
      <p:pic>
        <p:nvPicPr>
          <p:cNvPr id="6" name="Picture 5" descr="huawe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000" y="1440000"/>
            <a:ext cx="1800000" cy="406015"/>
          </a:xfrm>
          <a:prstGeom prst="rect">
            <a:avLst/>
          </a:prstGeom>
        </p:spPr>
      </p:pic>
      <p:pic>
        <p:nvPicPr>
          <p:cNvPr id="7" name="Picture 6" descr="ustc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6640" y="1440000"/>
            <a:ext cx="1800000" cy="344681"/>
          </a:xfrm>
          <a:prstGeom prst="rect">
            <a:avLst/>
          </a:prstGeom>
        </p:spPr>
      </p:pic>
      <p:pic>
        <p:nvPicPr>
          <p:cNvPr id="8" name="Picture 7" descr="sigi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13320" y="1368000"/>
            <a:ext cx="1440000" cy="79893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80000" y="4320000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Motivation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80000" y="5040000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5327999"/>
            <a:ext cx="7999992" cy="176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Multilingual IFT data is scarce &amp; skewed toward English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Llama-3 IFT: only 3.01% multilingual samples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No language-agnostic quality scoring method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SAH unverified in multilingual contexts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80000" y="7235999"/>
            <a:ext cx="3999996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0800" y="7248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Challenge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9996" y="7235999"/>
            <a:ext cx="3999996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0796" y="7248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M-DaQ Solution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80000" y="7631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0800" y="7644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No multilingual quality scoring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79996" y="7631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0796" y="7644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QSM (triplet loss)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0000" y="8027999"/>
            <a:ext cx="3999996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30800" y="8040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Diversity limited to English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79996" y="8027999"/>
            <a:ext cx="3999996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30796" y="8040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DAS (MMR-inspired)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80000" y="8423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0800" y="8436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SAH unverified multilingually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79996" y="8423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30796" y="8436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1K→52K, 8 langs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000" y="9215999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Experimental Setup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0000" y="9935999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0000" y="10223998"/>
            <a:ext cx="7999992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Base model: Llama-3-8B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IFT data: Alpaca-52K × 18 languages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Training: 3 epochs, lr 5×10⁻⁵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Judges: LLM-as-Judge + 7 native experts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Benchmarks: Alpaca-Eval + MT-Bench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0000" y="12671998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SAH Validation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0000" y="13391998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_p4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000" y="13679997"/>
            <a:ext cx="7783992" cy="38919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080000" y="16019997"/>
            <a:ext cx="7999992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222222"/>
                </a:solidFill>
              </a:rPr>
              <a:t>• 1K curated &gt; 52K unfiltered — SAH holds!</a:t>
            </a:r>
          </a:p>
          <a:p>
            <a:pPr algn="l">
              <a:lnSpc>
                <a:spcPct val="12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222222"/>
                </a:solidFill>
              </a:rPr>
              <a:t>• Diminishing returns beyond quality threshold</a:t>
            </a:r>
          </a:p>
          <a:p>
            <a:pPr algn="l">
              <a:lnSpc>
                <a:spcPct val="12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222222"/>
                </a:solidFill>
              </a:rPr>
              <a:t>• Language-dependent sensitivity observed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99992" y="4320000"/>
            <a:ext cx="10666656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Method: M-DaQ Framework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99992" y="5040000"/>
            <a:ext cx="10666656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_p1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9992" y="5327999"/>
            <a:ext cx="10306656" cy="5238148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799992" y="8027999"/>
            <a:ext cx="10666656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525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Stage 1: Quality Scoring Model (QSM)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99992" y="8675999"/>
            <a:ext cx="10666656" cy="1368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Fine-tuned on ~2.3K expert-revised samples × 18 languages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Triplet loss: instruction → positive vs. negative embedding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Language-agnostic quality signal from embedding space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99992" y="10151999"/>
            <a:ext cx="10666656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525"/>
              </a:spcAft>
            </a:pPr>
            <a:r>
              <a:rPr sz="2100" b="1">
                <a:latin typeface="Arial"/>
                <a:solidFill>
                  <a:srgbClr val="E8792B"/>
                </a:solidFill>
              </a:rPr>
              <a:t>Stage 2: Diversity-Aware Selection (DAS)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99992" y="10799999"/>
            <a:ext cx="10666656" cy="1764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MMR-inspired: Quality ≈ Relevance, Diversity ≈ Novelty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Select top-n by QSM → greedily augment from clusters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Ratio n_quality : n_diversity = 6:1 (tuned)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Complexity: O(n²) → O(n log n)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99992" y="12851999"/>
            <a:ext cx="10666656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Cross-Lingual Results (18 Languages)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99992" y="13571999"/>
            <a:ext cx="10666656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fig_p1_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79992" y="13859998"/>
            <a:ext cx="10306656" cy="8004836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9979992" y="16559998"/>
            <a:ext cx="10306656" cy="1080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59992" y="16667998"/>
            <a:ext cx="9946656" cy="90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1800" b="1">
                <a:latin typeface="Arial"/>
                <a:solidFill>
                  <a:srgbClr val="FFFFFF"/>
                </a:solidFill>
              </a:rPr>
              <a:t>Avg. Win Rate:  Alpaca-Eval 60.2%  |  MT-Bench R1 62.6%  |  R2 62.9%</a:t>
            </a:r>
          </a:p>
          <a:p>
            <a:pPr algn="ctr">
              <a:lnSpc>
                <a:spcPct val="130000"/>
              </a:lnSpc>
              <a:spcAft>
                <a:spcPts val="450"/>
              </a:spcAft>
            </a:pPr>
            <a:r>
              <a:rPr sz="1800" b="1">
                <a:latin typeface="Arial"/>
                <a:solidFill>
                  <a:srgbClr val="FFFFFF"/>
                </a:solidFill>
              </a:rPr>
              <a:t>Gains more pronounced in low-resource languages (Tagalog, Malay)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186648" y="4320000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Key Results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186648" y="5040000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186648" y="5327999"/>
            <a:ext cx="7999992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475"/>
              </a:spcAft>
            </a:pPr>
            <a:r>
              <a:rPr sz="1900" b="1">
                <a:latin typeface="Arial"/>
                <a:solidFill>
                  <a:srgbClr val="E8792B"/>
                </a:solidFill>
              </a:rPr>
              <a:t>LLM-as-Judge: M-DaQ vs. Vanilla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1186648" y="5903999"/>
            <a:ext cx="3999996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1237448" y="5916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>
                <a:latin typeface="Arial"/>
                <a:solidFill>
                  <a:srgbClr val="FFFFFF"/>
                </a:solidFill>
              </a:rPr>
              <a:t>Benchmark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186644" y="5903999"/>
            <a:ext cx="3999996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5237444" y="5916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1">
                <a:latin typeface="Arial"/>
                <a:solidFill>
                  <a:srgbClr val="FFFFFF"/>
                </a:solidFill>
              </a:rPr>
              <a:t>Win Rate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1186648" y="6299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1237448" y="6312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Alpaca-Eval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5186644" y="6299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237444" y="6312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60.2%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1186648" y="6695999"/>
            <a:ext cx="3999996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1237448" y="6708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MT-Bench R1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5186644" y="6695999"/>
            <a:ext cx="3999996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237444" y="6708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62.6%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1186648" y="7091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1237448" y="7104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MT-Bench R2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5186644" y="7091999"/>
            <a:ext cx="3999996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5237444" y="7104699"/>
            <a:ext cx="3898396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400"/>
              </a:spcAft>
            </a:pPr>
            <a:r>
              <a:rPr sz="1600" b="0">
                <a:latin typeface="Arial"/>
                <a:solidFill>
                  <a:srgbClr val="222222"/>
                </a:solidFill>
              </a:rPr>
              <a:t>62.9%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186648" y="7739999"/>
            <a:ext cx="7999992" cy="54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475"/>
              </a:spcAft>
            </a:pPr>
            <a:r>
              <a:rPr sz="1900" b="1">
                <a:latin typeface="Arial"/>
                <a:solidFill>
                  <a:srgbClr val="E8792B"/>
                </a:solidFill>
              </a:rPr>
              <a:t>Human Eval (6 Langs, 58 Person-Hours)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186648" y="8315999"/>
            <a:ext cx="1999998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237448" y="832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Language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186646" y="8315999"/>
            <a:ext cx="1999998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237446" y="832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AE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5186644" y="8315999"/>
            <a:ext cx="1999998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237444" y="832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MT-R1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7186642" y="8315999"/>
            <a:ext cx="1999998" cy="396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7237442" y="832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1">
                <a:latin typeface="Arial"/>
                <a:solidFill>
                  <a:srgbClr val="FFFFFF"/>
                </a:solidFill>
              </a:rPr>
              <a:t>MT-R2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1186648" y="8711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1237448" y="872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Japanese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3186646" y="8711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3237446" y="872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86%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5186644" y="8711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5237444" y="872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7186642" y="8711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7237442" y="872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80%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1186648" y="9107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1237448" y="912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Korean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3186646" y="9107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3237446" y="912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94%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5186644" y="9107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25237444" y="912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94%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186642" y="9107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7237442" y="912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94%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1186648" y="9503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1237448" y="9516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Russian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186646" y="9503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237446" y="9516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70%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5186644" y="9503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25237444" y="9516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86%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7186642" y="9503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27237442" y="9516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84%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1186648" y="9899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1237448" y="9912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Portuguese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3186646" y="9899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3237446" y="9912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80%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5186644" y="9899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5237444" y="9912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78%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186642" y="9899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7237442" y="9912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84%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21186648" y="10295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21237448" y="1030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Greek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3186646" y="10295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3237446" y="1030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58%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5186644" y="10295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5237444" y="1030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76%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7186642" y="10295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7237442" y="10308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82%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1186648" y="10691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21237448" y="1070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French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23186646" y="10691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23237446" y="1070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80%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25186644" y="10691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25237444" y="1070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92%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27186642" y="10691999"/>
            <a:ext cx="1999998" cy="39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27237442" y="10704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88%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1186648" y="11087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1237448" y="1110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Average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23186646" y="11087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23237446" y="1110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78.0%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25186644" y="11087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25237444" y="1110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85.0%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27186642" y="11087999"/>
            <a:ext cx="1999998" cy="396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7237442" y="11100699"/>
            <a:ext cx="1898398" cy="396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222222"/>
                </a:solidFill>
              </a:rPr>
              <a:t>85.3%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186648" y="11735999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Cultural Localization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21186648" y="12455999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fig_p4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294648" y="12743998"/>
            <a:ext cx="7783992" cy="5448794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21186648" y="14723998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1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666666"/>
                </a:solidFill>
              </a:rPr>
              <a:t>M-DaQ incorporates local knowledge (Piana, figatelli)</a:t>
            </a:r>
          </a:p>
          <a:p>
            <a:pPr algn="l">
              <a:lnSpc>
                <a:spcPct val="11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666666"/>
                </a:solidFill>
              </a:rPr>
              <a:t>vs. generic baseline responses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186648" y="15515998"/>
            <a:ext cx="7999992" cy="72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5000"/>
              </a:lnSpc>
              <a:spcAft>
                <a:spcPts val="750"/>
              </a:spcAft>
            </a:pPr>
            <a:r>
              <a:rPr sz="3000" b="1">
                <a:latin typeface="Arial"/>
                <a:solidFill>
                  <a:srgbClr val="1B3A5C"/>
                </a:solidFill>
              </a:rPr>
              <a:t>Conclusion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21186648" y="16235998"/>
            <a:ext cx="7999992" cy="38100"/>
          </a:xfrm>
          <a:prstGeom prst="rect">
            <a:avLst/>
          </a:prstGeom>
          <a:solidFill>
            <a:srgbClr val="E87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21186648" y="16523997"/>
            <a:ext cx="7999992" cy="216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QSM + DAS → compact, high-fidelity multilingual IFT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60%+ avg. win rate across 18 languages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Human eval: cultural relevance &amp; instruction-following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First SAH validation in multilingual settings</a:t>
            </a:r>
          </a:p>
          <a:p>
            <a:pPr algn="l">
              <a:lnSpc>
                <a:spcPct val="120000"/>
              </a:lnSpc>
              <a:spcAft>
                <a:spcPts val="475"/>
              </a:spcAft>
            </a:pPr>
            <a:r>
              <a:rPr sz="1900" b="0">
                <a:latin typeface="Arial"/>
                <a:solidFill>
                  <a:srgbClr val="222222"/>
                </a:solidFill>
              </a:rPr>
              <a:t>• Few thousand quality samples &gt; 52K unfiltered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1294648" y="18971997"/>
            <a:ext cx="7783992" cy="1260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1474648" y="19079997"/>
            <a:ext cx="7423992" cy="1080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1B3A5C"/>
                </a:solidFill>
              </a:rPr>
              <a:t>📎 github.com/zhaocorey/M-DaQ</a:t>
            </a:r>
          </a:p>
          <a:p>
            <a:pPr algn="l">
              <a:lnSpc>
                <a:spcPct val="13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1B3A5C"/>
                </a:solidFill>
              </a:rPr>
              <a:t>📎 arXiv:2509.15549</a:t>
            </a:r>
          </a:p>
          <a:p>
            <a:pPr algn="l">
              <a:lnSpc>
                <a:spcPct val="130000"/>
              </a:lnSpc>
              <a:spcAft>
                <a:spcPts val="425"/>
              </a:spcAft>
            </a:pPr>
            <a:r>
              <a:rPr sz="1700" b="0">
                <a:latin typeface="Arial"/>
                <a:solidFill>
                  <a:srgbClr val="1B3A5C"/>
                </a:solidFill>
              </a:rPr>
              <a:t>📧 liuyilun3@huawei.com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80000" y="41893920"/>
            <a:ext cx="28106640" cy="5400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5000"/>
              </a:lnSpc>
              <a:spcAft>
                <a:spcPts val="375"/>
              </a:spcAft>
            </a:pPr>
            <a:r>
              <a:rPr sz="1500" b="0">
                <a:latin typeface="Arial"/>
                <a:solidFill>
                  <a:srgbClr val="999999"/>
                </a:solidFill>
              </a:rPr>
              <a:t>SIGIR 2026  ·  Melbourne, VIC, Australia  ·  July 20–24,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