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42793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666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30266640" cy="3657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uaw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0" y="228600"/>
            <a:ext cx="2432304" cy="548640"/>
          </a:xfrm>
          <a:prstGeom prst="rect">
            <a:avLst/>
          </a:prstGeom>
        </p:spPr>
      </p:pic>
      <p:pic>
        <p:nvPicPr>
          <p:cNvPr id="5" name="Picture 4" descr="SIGIR_2026_N_Odate_pos_73a5d01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7520" y="868680"/>
            <a:ext cx="1831361" cy="914400"/>
          </a:xfrm>
          <a:prstGeom prst="rect">
            <a:avLst/>
          </a:prstGeom>
        </p:spPr>
      </p:pic>
      <p:pic>
        <p:nvPicPr>
          <p:cNvPr id="6" name="Picture 5" descr="ust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0" y="1874519"/>
            <a:ext cx="286512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74320"/>
            <a:ext cx="2478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latin typeface="Arial"/>
                <a:solidFill>
                  <a:srgbClr val="1B3A5C"/>
                </a:solidFill>
              </a:rPr>
              <a:t>M-DaQ: Retrieving Samples with Multilingual Diversity and Quality for Instruction Fine-Tuning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2478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latin typeface="Arial"/>
                <a:solidFill>
                  <a:srgbClr val="222222"/>
                </a:solidFill>
              </a:rPr>
              <a:t>Chunguang Zhao¹, Yilun Liu¹, Pufan Zeng², Yuanchang Luo¹, Shimin Tao¹, Minggui He¹, Weibin Meng¹, Song Xu², Chen Liu¹, Hongxia Ma¹, Li Zhang¹, Boxing Chen¹, Daimeng Wei¹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2478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Arial"/>
                <a:solidFill>
                  <a:srgbClr val="666666"/>
                </a:solidFill>
              </a:rPr>
              <a:t>¹ Huawei Technologies Ltd.  ² University of Science and Technology of China  |  SIGIR 2026 · Melbourne · July 20–24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417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Arial"/>
                <a:solidFill>
                  <a:srgbClr val="1B3A5C"/>
                </a:solidFill>
              </a:rPr>
              <a:t>1  MOTIVATION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11880"/>
            <a:ext cx="1417320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1417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Multilingual IFT data is scarce, skewed toward English, lacks systematic curation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Llama-3 IFT dataset: only 3.01% multilingual samples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No language-agnostic quality scoring for multilingual data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Data diversity studied only in English settings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Superficial Alignment Hypothesis (SAH) unverified in multilingual contexts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909560"/>
            <a:ext cx="1417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latin typeface="Arial"/>
                <a:solidFill>
                  <a:srgbClr val="1B3A5C"/>
                </a:solidFill>
              </a:rPr>
              <a:t>Three Challenges Addressed: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8321040"/>
            <a:ext cx="411480" cy="292608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8330183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8321040"/>
            <a:ext cx="1367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No extensible quality scoring for multilingual IFT</a:t>
            </a:r>
          </a:p>
          <a:p>
            <a:pPr algn="l">
              <a:spcAft>
                <a:spcPts val="200"/>
              </a:spcAft>
            </a:pPr>
            <a:r>
              <a:rPr sz="1900" b="1">
                <a:latin typeface="Arial"/>
                <a:solidFill>
                  <a:srgbClr val="E8792B"/>
                </a:solidFill>
              </a:rPr>
              <a:t>→ QSM with triplet loss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9006840"/>
            <a:ext cx="411480" cy="292608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90159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9006840"/>
            <a:ext cx="1367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Diversity selection limited to English</a:t>
            </a:r>
          </a:p>
          <a:p>
            <a:pPr algn="l">
              <a:spcAft>
                <a:spcPts val="200"/>
              </a:spcAft>
            </a:pPr>
            <a:r>
              <a:rPr sz="1900" b="1">
                <a:latin typeface="Arial"/>
                <a:solidFill>
                  <a:srgbClr val="E8792B"/>
                </a:solidFill>
              </a:rPr>
              <a:t>→ DAS inspired by MMR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9692640"/>
            <a:ext cx="411480" cy="292608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97017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9692640"/>
            <a:ext cx="1367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SAH unverified in multilingual settings</a:t>
            </a:r>
          </a:p>
          <a:p>
            <a:pPr algn="l">
              <a:spcAft>
                <a:spcPts val="200"/>
              </a:spcAft>
            </a:pPr>
            <a:r>
              <a:rPr sz="1900" b="1">
                <a:latin typeface="Arial"/>
                <a:solidFill>
                  <a:srgbClr val="E8792B"/>
                </a:solidFill>
              </a:rPr>
              <a:t>→ 1K→52K study, 8 langs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10561319"/>
            <a:ext cx="1417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Arial"/>
                <a:solidFill>
                  <a:srgbClr val="1B3A5C"/>
                </a:solidFill>
              </a:rPr>
              <a:t>2  METHOD: M-DaQ FRAMEWORK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11018519"/>
            <a:ext cx="1417320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11201399"/>
            <a:ext cx="1417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Arial"/>
                <a:solidFill>
                  <a:srgbClr val="E8792B"/>
                </a:solidFill>
              </a:rPr>
              <a:t>Stage 1: Quality Scoring Model (QSM)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1567159"/>
            <a:ext cx="1417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Fine-tuned on ~2.3K expert-revised samples × 18 languages (from MIDB)</a:t>
            </a:r>
          </a:p>
          <a:p>
            <a:pPr>
              <a:spcAft>
                <a:spcPts val="8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Triplet loss: instruction → positive (expert-revised) vs negative (original/MT)</a:t>
            </a:r>
          </a:p>
          <a:p>
            <a:pPr>
              <a:spcAft>
                <a:spcPts val="8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Language-agnostic quality signal from embedding 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14127480"/>
            <a:ext cx="1417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Arial"/>
                <a:solidFill>
                  <a:srgbClr val="E8792B"/>
                </a:solidFill>
              </a:rPr>
              <a:t>Stage 2: Diversity-Aware Selection (DAS)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4493240"/>
            <a:ext cx="1417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MMR-inspired: Quality ≈ Relevance, Diversity ≈ Novelty</a:t>
            </a:r>
          </a:p>
          <a:p>
            <a:pPr>
              <a:spcAft>
                <a:spcPts val="8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Two-stage pipeline reduces O(n²) → O(n log n)</a:t>
            </a:r>
          </a:p>
          <a:p>
            <a:pPr>
              <a:spcAft>
                <a:spcPts val="8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Stage A: Select top-n by QSM score (quality subset)</a:t>
            </a:r>
          </a:p>
          <a:p>
            <a:pPr>
              <a:spcAft>
                <a:spcPts val="8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Stage B: Greedily augment from uncovered clusters (diversity subset)</a:t>
            </a:r>
          </a:p>
          <a:p>
            <a:pPr>
              <a:spcAft>
                <a:spcPts val="8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Ratio n_quality : n_diversity = 6:1 (empirically tuned)</a:t>
            </a:r>
          </a:p>
        </p:txBody>
      </p:sp>
      <p:pic>
        <p:nvPicPr>
          <p:cNvPr id="29" name="Picture 28" descr="fig_p1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7967960"/>
            <a:ext cx="14173200" cy="1100785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1520" y="29021532"/>
            <a:ext cx="1417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Arial"/>
                <a:solidFill>
                  <a:srgbClr val="666666"/>
                </a:solidFill>
              </a:rPr>
              <a:t>Figure: M-DaQ two-stage pipeline (QSM + DAS)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0" y="3154680"/>
            <a:ext cx="1417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Arial"/>
                <a:solidFill>
                  <a:srgbClr val="1B3A5C"/>
                </a:solidFill>
              </a:rPr>
              <a:t>3  KEY RESULTS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361920" y="3611880"/>
            <a:ext cx="1417320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361920" y="3794760"/>
            <a:ext cx="1417320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0" y="3867912"/>
            <a:ext cx="1380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latin typeface="Arial"/>
                <a:solidFill>
                  <a:srgbClr val="1B3A5C"/>
                </a:solidFill>
              </a:rPr>
              <a:t>LLM-as-Judge: Avg Win Rate (M-DaQ vs Vanilla)</a:t>
            </a:r>
          </a:p>
          <a:p>
            <a:pPr algn="ctr">
              <a:spcAft>
                <a:spcPts val="200"/>
              </a:spcAft>
            </a:pPr>
            <a:r>
              <a:rPr sz="2200" b="1">
                <a:latin typeface="Arial"/>
                <a:solidFill>
                  <a:srgbClr val="E8792B"/>
                </a:solidFill>
              </a:rPr>
              <a:t>Alpaca-Eval: 60.2%  ·  MT-Bench R1: 62.6%  ·  MT-Bench R2: 62.9%</a:t>
            </a:r>
          </a:p>
        </p:txBody>
      </p:sp>
      <p:pic>
        <p:nvPicPr>
          <p:cNvPr id="35" name="Picture 34" descr="fig_p1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0" y="5074920"/>
            <a:ext cx="14173200" cy="72032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61920" y="11521440"/>
            <a:ext cx="1417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Arial"/>
                <a:solidFill>
                  <a:srgbClr val="666666"/>
                </a:solidFill>
              </a:rPr>
              <a:t>Cross-lingual win rates across 18 languages (Alpaca-Eval + MT-Bench)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61920" y="11932920"/>
            <a:ext cx="1417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Consistent improvement across all 18 languages</a:t>
            </a:r>
          </a:p>
          <a:p>
            <a:pPr>
              <a:spcAft>
                <a:spcPts val="8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Gains MORE pronounced in low-resource languages (Tagalog, Malay)</a:t>
            </a:r>
          </a:p>
          <a:p>
            <a:pPr>
              <a:spcAft>
                <a:spcPts val="8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M-DaQ mitigates linguistic imbalance and data scarcity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0" y="14218920"/>
            <a:ext cx="1417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Arial"/>
                <a:solidFill>
                  <a:srgbClr val="1B3A5C"/>
                </a:solidFill>
              </a:rPr>
              <a:t>4  HUMAN EVALUATION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61920" y="14676120"/>
            <a:ext cx="1417320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361920" y="14859000"/>
            <a:ext cx="1417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latin typeface="Arial"/>
                <a:solidFill>
                  <a:srgbClr val="1B3A5C"/>
                </a:solidFill>
              </a:rPr>
              <a:t>6 Languages · 900 Samples · 58 Person-Hours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15361920" y="15224759"/>
          <a:ext cx="1417319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59"/>
                <a:gridCol w="3401568"/>
                <a:gridCol w="3259836"/>
                <a:gridCol w="325983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Arial"/>
                          <a:solidFill>
                            <a:srgbClr val="FFFFFF"/>
                          </a:solidFill>
                        </a:rPr>
                        <a:t>Language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Arial"/>
                          <a:solidFill>
                            <a:srgbClr val="FFFFFF"/>
                          </a:solidFill>
                        </a:rPr>
                        <a:t>Alpaca-Eval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Arial"/>
                          <a:solidFill>
                            <a:srgbClr val="FFFFFF"/>
                          </a:solidFill>
                        </a:rPr>
                        <a:t>MT-Bench R1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Arial"/>
                          <a:solidFill>
                            <a:srgbClr val="FFFFFF"/>
                          </a:solidFill>
                        </a:rPr>
                        <a:t>MT-Bench R2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1B3A5C"/>
                          </a:solidFill>
                        </a:rPr>
                        <a:t>Japanese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1B3A5C"/>
                          </a:solidFill>
                        </a:rPr>
                        <a:t>Korean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1B3A5C"/>
                          </a:solidFill>
                        </a:rPr>
                        <a:t>Russian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1B3A5C"/>
                          </a:solidFill>
                        </a:rPr>
                        <a:t>Portuguese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78%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1B3A5C"/>
                          </a:solidFill>
                        </a:rPr>
                        <a:t>Greek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1B3A5C"/>
                          </a:solidFill>
                        </a:rPr>
                        <a:t>French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Arial"/>
                          <a:solidFill>
                            <a:srgbClr val="222222"/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latin typeface="Arial"/>
                          <a:solidFill>
                            <a:srgbClr val="1B3A5C"/>
                          </a:solidFill>
                        </a:rPr>
                        <a:t>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latin typeface="Arial"/>
                          <a:solidFill>
                            <a:srgbClr val="1B3A5C"/>
                          </a:solidFill>
                        </a:rPr>
                        <a:t>78.0%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latin typeface="Arial"/>
                          <a:solidFill>
                            <a:srgbClr val="1B3A5C"/>
                          </a:solidFill>
                        </a:rPr>
                        <a:t>85.0%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latin typeface="Arial"/>
                          <a:solidFill>
                            <a:srgbClr val="1B3A5C"/>
                          </a:solidFill>
                        </a:rPr>
                        <a:t>85.3%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15361920" y="18425160"/>
            <a:ext cx="1417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Arial"/>
                <a:solidFill>
                  <a:srgbClr val="1B3A5C"/>
                </a:solidFill>
              </a:rPr>
              <a:t>5  SAH IN MULTILINGUAL SETTINGS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361920" y="18882360"/>
            <a:ext cx="1417320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361920" y="19065239"/>
            <a:ext cx="1417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latin typeface="Arial"/>
                <a:solidFill>
                  <a:srgbClr val="222222"/>
                </a:solidFill>
              </a:rPr>
              <a:t>First systematic investigation of SAH across languages.</a:t>
            </a:r>
          </a:p>
        </p:txBody>
      </p:sp>
      <p:pic>
        <p:nvPicPr>
          <p:cNvPr id="45" name="Picture 44" descr="fig_p4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1920" y="19522439"/>
            <a:ext cx="14173200" cy="99212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61920" y="24597360"/>
            <a:ext cx="1417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Arial"/>
                <a:solidFill>
                  <a:srgbClr val="666666"/>
                </a:solidFill>
              </a:rPr>
              <a:t>Win rate vs IFT dataset scale (1K–52K), 8 languages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61920" y="25008839"/>
            <a:ext cx="1417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✅  Diminishing returns: 1K curated &gt; 52K unfiltered — SAH holds</a:t>
            </a:r>
          </a:p>
          <a:p>
            <a:pPr>
              <a:spcAft>
                <a:spcPts val="8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   10K → −10.1% avg win rate;  52K → −6.2% vs 1K baseline</a:t>
            </a:r>
          </a:p>
          <a:p>
            <a:pPr>
              <a:spcAft>
                <a:spcPts val="8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⚠️  Language-dependent: Arabic flatter than French</a:t>
            </a:r>
          </a:p>
          <a:p>
            <a:pPr>
              <a:spcAft>
                <a:spcPts val="8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A few thousand high-quality samples suffice for multilingual alignment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61920" y="28209239"/>
            <a:ext cx="1417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latin typeface="Arial"/>
                <a:solidFill>
                  <a:srgbClr val="1B3A5C"/>
                </a:solidFill>
              </a:rPr>
              <a:t>6  CONCLUSION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361920" y="28666439"/>
            <a:ext cx="1417320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361920" y="28849319"/>
            <a:ext cx="1417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M-DaQ = QSM + DAS: compact, high-fidelity multilingual IFT subsets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60%+ avg win rate across 18 languages on Alpaca-Eval &amp; MT-Bench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Human eval confirms cultural relevance &amp; instruction-following gains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First empirical validation of SAH in multilingual settings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Code: github.com/zhaocorey/M-DaQ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361920" y="32689800"/>
            <a:ext cx="14173200" cy="2743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636240" y="32872680"/>
            <a:ext cx="1362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latin typeface="Arial"/>
                <a:solidFill>
                  <a:srgbClr val="1B3A5C"/>
                </a:solidFill>
              </a:rPr>
              <a:t>📎  Code &amp; Resources</a:t>
            </a:r>
          </a:p>
          <a:p>
            <a:pPr algn="l">
              <a:spcAft>
                <a:spcPts val="1000"/>
              </a:spcAft>
            </a:pPr>
            <a:r>
              <a:rPr sz="1800" b="0">
                <a:latin typeface="Arial"/>
                <a:solidFill>
                  <a:srgbClr val="222222"/>
                </a:solidFill>
              </a:rPr>
              <a:t>     github.com/zhaocorey/M-DaQ</a:t>
            </a:r>
          </a:p>
          <a:p>
            <a:pPr algn="l">
              <a:spcAft>
                <a:spcPts val="800"/>
              </a:spcAft>
            </a:pPr>
            <a:r>
              <a:rPr sz="2200" b="1">
                <a:latin typeface="Arial"/>
                <a:solidFill>
                  <a:srgbClr val="1B3A5C"/>
                </a:solidFill>
              </a:rPr>
              <a:t>  Paper</a:t>
            </a:r>
          </a:p>
          <a:p>
            <a:pPr algn="l">
              <a:spcAft>
                <a:spcPts val="1000"/>
              </a:spcAft>
            </a:pPr>
            <a:r>
              <a:rPr sz="1800" b="0">
                <a:latin typeface="Arial"/>
                <a:solidFill>
                  <a:srgbClr val="222222"/>
                </a:solidFill>
              </a:rPr>
              <a:t>     DOI: 10.1145/3805712.3809946   |   arXiv: 2509.15549</a:t>
            </a:r>
          </a:p>
          <a:p>
            <a:pPr algn="l">
              <a:spcAft>
                <a:spcPts val="800"/>
              </a:spcAft>
            </a:pPr>
            <a:r>
              <a:rPr sz="2200" b="1">
                <a:latin typeface="Arial"/>
                <a:solidFill>
                  <a:srgbClr val="1B3A5C"/>
                </a:solidFill>
              </a:rPr>
              <a:t>📧  Contact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Arial"/>
                <a:solidFill>
                  <a:srgbClr val="222222"/>
                </a:solidFill>
              </a:rPr>
              <a:t>     zhaochunguang6@huawei.com   |   +86-15501192353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42428160"/>
            <a:ext cx="3026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Arial"/>
                <a:solidFill>
                  <a:srgbClr val="666666"/>
                </a:solidFill>
              </a:rPr>
              <a:t>SIGIR 2026  ·  Melbourne, VIC, Australia  ·  July 20–24, 2026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119604" y="3154680"/>
            <a:ext cx="27432" cy="3927347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